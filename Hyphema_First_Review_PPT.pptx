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74" r:id="rId6"/>
    <p:sldId id="273" r:id="rId7"/>
    <p:sldId id="270" r:id="rId8"/>
    <p:sldId id="271" r:id="rId9"/>
    <p:sldId id="259" r:id="rId10"/>
    <p:sldId id="260" r:id="rId11"/>
    <p:sldId id="275" r:id="rId12"/>
    <p:sldId id="276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7EE942-65B2-107A-78CF-4AFCD50C1294}"/>
              </a:ext>
            </a:extLst>
          </p:cNvPr>
          <p:cNvSpPr txBox="1"/>
          <p:nvPr/>
        </p:nvSpPr>
        <p:spPr>
          <a:xfrm>
            <a:off x="1205802" y="1746966"/>
            <a:ext cx="65816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AI-Based Real-Time Hyphema Detection &amp; Ocular Health Assistance System</a:t>
            </a:r>
            <a:endParaRPr lang="en-US"/>
          </a:p>
          <a:p>
            <a:r>
              <a:rPr lang="en-US"/>
              <a:t>Under the guidance of</a:t>
            </a:r>
            <a:br>
              <a:rPr lang="en-US"/>
            </a:br>
            <a:r>
              <a:rPr lang="en-US" b="1"/>
              <a:t>Mrs. G. Venkateswari, M.Tech (Ph.D)</a:t>
            </a:r>
            <a:br>
              <a:rPr lang="en-US"/>
            </a:br>
            <a:r>
              <a:rPr lang="en-US"/>
              <a:t>Assistant Professor &amp; HOD</a:t>
            </a:r>
            <a:br>
              <a:rPr lang="en-US"/>
            </a:br>
            <a:r>
              <a:rPr lang="en-US"/>
              <a:t>Department of CSE</a:t>
            </a:r>
          </a:p>
          <a:p>
            <a:r>
              <a:rPr lang="en-US"/>
              <a:t>By</a:t>
            </a:r>
          </a:p>
          <a:p>
            <a:r>
              <a:rPr lang="en-US" b="1"/>
              <a:t>Chanda Sunayana (Y22CS2621)</a:t>
            </a:r>
            <a:endParaRPr lang="en-US"/>
          </a:p>
          <a:p>
            <a:r>
              <a:rPr lang="en-US"/>
              <a:t>Department of Computer Science &amp; Engineering</a:t>
            </a:r>
            <a:br>
              <a:rPr lang="en-US"/>
            </a:br>
            <a:r>
              <a:rPr lang="en-US" b="1"/>
              <a:t>Bapatla Women’s Engineering College</a:t>
            </a:r>
            <a:br>
              <a:rPr lang="en-US"/>
            </a:br>
            <a:r>
              <a:rPr lang="en-US"/>
              <a:t>Acharya Nagarjuna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C48B09-1124-F7B5-811C-8A8649858C50}"/>
              </a:ext>
            </a:extLst>
          </p:cNvPr>
          <p:cNvSpPr txBox="1"/>
          <p:nvPr/>
        </p:nvSpPr>
        <p:spPr>
          <a:xfrm>
            <a:off x="703384" y="1952287"/>
            <a:ext cx="77372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Abstract</a:t>
            </a:r>
          </a:p>
          <a:p>
            <a:r>
              <a:rPr lang="en-US" dirty="0"/>
              <a:t>Artificial Intelligence has become an important tool in medical image analysis. Eye injuries such as </a:t>
            </a:r>
            <a:r>
              <a:rPr lang="en-US" dirty="0" err="1"/>
              <a:t>hyphema</a:t>
            </a:r>
            <a:r>
              <a:rPr lang="en-US" dirty="0"/>
              <a:t> require early detection to prevent severe vision problems. </a:t>
            </a:r>
            <a:r>
              <a:rPr lang="en-US" dirty="0" err="1"/>
              <a:t>Hyphema</a:t>
            </a:r>
            <a:r>
              <a:rPr lang="en-US" dirty="0"/>
              <a:t> is a medical condition in which blood accumulates in the anterior chamber of the eye due to trauma or medical complications.</a:t>
            </a:r>
          </a:p>
          <a:p>
            <a:r>
              <a:rPr lang="en-US" dirty="0"/>
              <a:t>This project proposes an </a:t>
            </a:r>
            <a:r>
              <a:rPr lang="en-US" b="1" dirty="0"/>
              <a:t>AI-based </a:t>
            </a:r>
            <a:r>
              <a:rPr lang="en-US" b="1" dirty="0" err="1"/>
              <a:t>hyphema</a:t>
            </a:r>
            <a:r>
              <a:rPr lang="en-US" b="1" dirty="0"/>
              <a:t> detection system</a:t>
            </a:r>
            <a:r>
              <a:rPr lang="en-US" dirty="0"/>
              <a:t> that analyzes eye images using deep learning techniques. The system captures an eye image, performs preprocessing, and applies a </a:t>
            </a:r>
            <a:r>
              <a:rPr lang="en-US" b="1" dirty="0"/>
              <a:t>Convolutional Neural Network (CNN)</a:t>
            </a:r>
            <a:r>
              <a:rPr lang="en-US" dirty="0"/>
              <a:t> model to detect </a:t>
            </a:r>
            <a:r>
              <a:rPr lang="en-US" dirty="0" err="1"/>
              <a:t>hyphema</a:t>
            </a:r>
            <a:r>
              <a:rPr lang="en-US" dirty="0"/>
              <a:t>.</a:t>
            </a:r>
          </a:p>
          <a:p>
            <a:r>
              <a:rPr lang="en-US" dirty="0"/>
              <a:t>The system also generates </a:t>
            </a:r>
            <a:r>
              <a:rPr lang="en-US" b="1" dirty="0"/>
              <a:t>Grad-CAM heatmaps</a:t>
            </a:r>
            <a:r>
              <a:rPr lang="en-US" dirty="0"/>
              <a:t> to highlight affected regions and provides severity classification along with medical recommendations. Additionally, the application offers features such as </a:t>
            </a:r>
            <a:r>
              <a:rPr lang="en-US" b="1" dirty="0"/>
              <a:t>vision screening, hospital finder, and AI assistant</a:t>
            </a:r>
            <a:r>
              <a:rPr lang="en-US" dirty="0"/>
              <a:t> to help users obtain medical assistance quickly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964ABE1-FC1C-9100-5D09-8CB6FFB4B98D}"/>
              </a:ext>
            </a:extLst>
          </p:cNvPr>
          <p:cNvSpPr txBox="1"/>
          <p:nvPr/>
        </p:nvSpPr>
        <p:spPr>
          <a:xfrm>
            <a:off x="2286000" y="1446353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Eye injuries and diseases are a major cause of vision impairment worldwide.</a:t>
            </a:r>
          </a:p>
          <a:p>
            <a:r>
              <a:rPr lang="en-US" dirty="0" err="1"/>
              <a:t>Hyphema</a:t>
            </a:r>
            <a:r>
              <a:rPr lang="en-US" dirty="0"/>
              <a:t> is a condition where </a:t>
            </a:r>
            <a:r>
              <a:rPr lang="en-US" b="1" dirty="0"/>
              <a:t>blood collects in the anterior chamber of the eye</a:t>
            </a:r>
            <a:r>
              <a:rPr lang="en-US" dirty="0"/>
              <a:t>, often caused by trauma or injury.</a:t>
            </a:r>
          </a:p>
          <a:p>
            <a:r>
              <a:rPr lang="en-US" dirty="0"/>
              <a:t>Early detection of </a:t>
            </a:r>
            <a:r>
              <a:rPr lang="en-US" dirty="0" err="1"/>
              <a:t>hyphema</a:t>
            </a:r>
            <a:r>
              <a:rPr lang="en-US" dirty="0"/>
              <a:t> is important to prevent complications such as:</a:t>
            </a:r>
          </a:p>
          <a:p>
            <a:r>
              <a:rPr lang="en-US" dirty="0"/>
              <a:t>• Increased eye pressure</a:t>
            </a:r>
            <a:br>
              <a:rPr lang="en-US" dirty="0"/>
            </a:br>
            <a:r>
              <a:rPr lang="en-US" dirty="0"/>
              <a:t>• Vision impairment</a:t>
            </a:r>
            <a:br>
              <a:rPr lang="en-US" dirty="0"/>
            </a:br>
            <a:r>
              <a:rPr lang="en-US" dirty="0"/>
              <a:t>• Permanent eye damage</a:t>
            </a:r>
          </a:p>
          <a:p>
            <a:r>
              <a:rPr lang="en-US" dirty="0"/>
              <a:t>Artificial Intelligence can assist in </a:t>
            </a:r>
            <a:r>
              <a:rPr lang="en-US" b="1" dirty="0"/>
              <a:t>automated medical image analysis</a:t>
            </a:r>
            <a:r>
              <a:rPr lang="en-US" dirty="0"/>
              <a:t> and improve early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968D1C-6617-FD59-C5C1-5BC8FEC48098}"/>
              </a:ext>
            </a:extLst>
          </p:cNvPr>
          <p:cNvSpPr txBox="1"/>
          <p:nvPr/>
        </p:nvSpPr>
        <p:spPr>
          <a:xfrm>
            <a:off x="849086" y="1319240"/>
            <a:ext cx="69283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Traditional </a:t>
            </a:r>
            <a:r>
              <a:rPr lang="en-US" dirty="0" err="1"/>
              <a:t>hyphema</a:t>
            </a:r>
            <a:r>
              <a:rPr lang="en-US" dirty="0"/>
              <a:t> diagnosis depends on </a:t>
            </a:r>
            <a:r>
              <a:rPr lang="en-US" b="1" dirty="0"/>
              <a:t>clinical examination by ophthalmologists</a:t>
            </a:r>
            <a:r>
              <a:rPr lang="en-US" dirty="0"/>
              <a:t>.</a:t>
            </a:r>
          </a:p>
          <a:p>
            <a:r>
              <a:rPr lang="en-US" dirty="0"/>
              <a:t>However, many people face challenges such as:</a:t>
            </a:r>
          </a:p>
          <a:p>
            <a:r>
              <a:rPr lang="en-US" dirty="0"/>
              <a:t>• Limited access to eye specialists</a:t>
            </a:r>
            <a:br>
              <a:rPr lang="en-US" dirty="0"/>
            </a:br>
            <a:r>
              <a:rPr lang="en-US" dirty="0"/>
              <a:t>• Delayed medical diagnosis</a:t>
            </a:r>
            <a:br>
              <a:rPr lang="en-US" dirty="0"/>
            </a:br>
            <a:r>
              <a:rPr lang="en-US" dirty="0"/>
              <a:t>• Lack of automated screening tools</a:t>
            </a:r>
            <a:br>
              <a:rPr lang="en-US" dirty="0"/>
            </a:br>
            <a:r>
              <a:rPr lang="en-US" dirty="0"/>
              <a:t>• High cost of medical examination</a:t>
            </a:r>
          </a:p>
          <a:p>
            <a:r>
              <a:rPr lang="en-US" dirty="0"/>
              <a:t>Therefore, there is a need for an </a:t>
            </a:r>
            <a:r>
              <a:rPr lang="en-US" b="1" dirty="0"/>
              <a:t>AI-based system that can detect </a:t>
            </a:r>
            <a:r>
              <a:rPr lang="en-US" b="1" dirty="0" err="1"/>
              <a:t>hyphema</a:t>
            </a:r>
            <a:r>
              <a:rPr lang="en-US" b="1" dirty="0"/>
              <a:t> quickly and accurately using eye images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7991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C41EE5-E758-7388-162A-B7ED62E9DDCE}"/>
              </a:ext>
            </a:extLst>
          </p:cNvPr>
          <p:cNvSpPr txBox="1"/>
          <p:nvPr/>
        </p:nvSpPr>
        <p:spPr>
          <a:xfrm>
            <a:off x="2286000" y="1169355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Proposed System</a:t>
            </a:r>
          </a:p>
          <a:p>
            <a:r>
              <a:rPr lang="en-US" dirty="0"/>
              <a:t>The proposed system uses </a:t>
            </a:r>
            <a:r>
              <a:rPr lang="en-US" b="1" dirty="0"/>
              <a:t>Artificial Intelligence and Deep Learning</a:t>
            </a:r>
            <a:r>
              <a:rPr lang="en-US" dirty="0"/>
              <a:t> to automatically detect </a:t>
            </a:r>
            <a:r>
              <a:rPr lang="en-US" dirty="0" err="1"/>
              <a:t>hyphema</a:t>
            </a:r>
            <a:r>
              <a:rPr lang="en-US" dirty="0"/>
              <a:t> from eye images.</a:t>
            </a:r>
          </a:p>
          <a:p>
            <a:r>
              <a:rPr lang="en-US" dirty="0"/>
              <a:t>The system performs the following tasks:</a:t>
            </a:r>
          </a:p>
          <a:p>
            <a:r>
              <a:rPr lang="en-US" dirty="0"/>
              <a:t>• Capture eye image using camera or upload option</a:t>
            </a:r>
            <a:br>
              <a:rPr lang="en-US" dirty="0"/>
            </a:br>
            <a:r>
              <a:rPr lang="en-US" dirty="0"/>
              <a:t>• Preprocess the image</a:t>
            </a:r>
            <a:br>
              <a:rPr lang="en-US" dirty="0"/>
            </a:br>
            <a:r>
              <a:rPr lang="en-US" dirty="0"/>
              <a:t>• Apply deep learning model for </a:t>
            </a:r>
            <a:r>
              <a:rPr lang="en-US" dirty="0" err="1"/>
              <a:t>hyphema</a:t>
            </a:r>
            <a:r>
              <a:rPr lang="en-US" dirty="0"/>
              <a:t> detection</a:t>
            </a:r>
            <a:br>
              <a:rPr lang="en-US" dirty="0"/>
            </a:br>
            <a:r>
              <a:rPr lang="en-US" dirty="0"/>
              <a:t>• Classify severity levels</a:t>
            </a:r>
            <a:br>
              <a:rPr lang="en-US" dirty="0"/>
            </a:br>
            <a:r>
              <a:rPr lang="en-US" dirty="0"/>
              <a:t>• Generate heatmap visualization</a:t>
            </a:r>
            <a:br>
              <a:rPr lang="en-US" dirty="0"/>
            </a:br>
            <a:r>
              <a:rPr lang="en-US" dirty="0"/>
              <a:t>• Provide medical recommendations</a:t>
            </a:r>
          </a:p>
          <a:p>
            <a:r>
              <a:rPr lang="en-US" dirty="0"/>
              <a:t>The system helps in </a:t>
            </a:r>
            <a:r>
              <a:rPr lang="en-US" b="1" dirty="0"/>
              <a:t>early detection and quick medical assistance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00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9189C4-2E7B-EE98-E770-DA32A21828E1}"/>
              </a:ext>
            </a:extLst>
          </p:cNvPr>
          <p:cNvSpPr txBox="1"/>
          <p:nvPr/>
        </p:nvSpPr>
        <p:spPr>
          <a:xfrm>
            <a:off x="2286000" y="1723352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Requirements</a:t>
            </a:r>
          </a:p>
          <a:p>
            <a:r>
              <a:rPr lang="en-US" b="1" dirty="0"/>
              <a:t>Hardware Requirements</a:t>
            </a:r>
          </a:p>
          <a:p>
            <a:r>
              <a:rPr lang="en-US" dirty="0"/>
              <a:t>Processor : Intel i5 or higher</a:t>
            </a:r>
            <a:br>
              <a:rPr lang="en-US" dirty="0"/>
            </a:br>
            <a:r>
              <a:rPr lang="en-US" dirty="0"/>
              <a:t>RAM : Minimum 8 GB</a:t>
            </a:r>
            <a:br>
              <a:rPr lang="en-US" dirty="0"/>
            </a:br>
            <a:r>
              <a:rPr lang="en-US" dirty="0"/>
              <a:t>Storage : Minimum 20 GB free space</a:t>
            </a:r>
            <a:br>
              <a:rPr lang="en-US" dirty="0"/>
            </a:br>
            <a:r>
              <a:rPr lang="en-US" dirty="0"/>
              <a:t>Camera : Required for capturing eye images</a:t>
            </a:r>
            <a:br>
              <a:rPr lang="en-US" dirty="0"/>
            </a:br>
            <a:r>
              <a:rPr lang="en-US" dirty="0"/>
              <a:t>GPU : Optional for deep learning training</a:t>
            </a:r>
          </a:p>
          <a:p>
            <a:r>
              <a:rPr lang="en-US" b="1" dirty="0"/>
              <a:t>Software Requirements</a:t>
            </a:r>
          </a:p>
          <a:p>
            <a:r>
              <a:rPr lang="en-US" dirty="0"/>
              <a:t>Operating System : Windows / Linux / macOS</a:t>
            </a:r>
            <a:br>
              <a:rPr lang="en-US" dirty="0"/>
            </a:br>
            <a:r>
              <a:rPr lang="en-US" dirty="0"/>
              <a:t>Programming Language : Python 3.x</a:t>
            </a:r>
            <a:br>
              <a:rPr lang="en-US" dirty="0"/>
            </a:br>
            <a:r>
              <a:rPr lang="en-US" dirty="0"/>
              <a:t>Framework : Flask</a:t>
            </a:r>
            <a:br>
              <a:rPr lang="en-US" dirty="0"/>
            </a:br>
            <a:r>
              <a:rPr lang="en-US" dirty="0"/>
              <a:t>Libraries : TensorFlow, OpenCV, NumPy</a:t>
            </a:r>
            <a:br>
              <a:rPr lang="en-US" dirty="0"/>
            </a:br>
            <a:r>
              <a:rPr lang="en-US" dirty="0"/>
              <a:t>Database : SQLite</a:t>
            </a:r>
            <a:br>
              <a:rPr lang="en-US" dirty="0"/>
            </a:br>
            <a:r>
              <a:rPr lang="en-US" dirty="0"/>
              <a:t>Frontend : HTML, CSS, JavaScript</a:t>
            </a:r>
          </a:p>
        </p:txBody>
      </p:sp>
    </p:spTree>
    <p:extLst>
      <p:ext uri="{BB962C8B-B14F-4D97-AF65-F5344CB8AC3E}">
        <p14:creationId xmlns:p14="http://schemas.microsoft.com/office/powerpoint/2010/main" val="372425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665FB5-1B31-A0E4-DF8F-2080DB717DB8}"/>
              </a:ext>
            </a:extLst>
          </p:cNvPr>
          <p:cNvSpPr txBox="1"/>
          <p:nvPr/>
        </p:nvSpPr>
        <p:spPr>
          <a:xfrm>
            <a:off x="914400" y="1376015"/>
            <a:ext cx="63354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Modules</a:t>
            </a:r>
          </a:p>
          <a:p>
            <a:r>
              <a:rPr lang="en-US" dirty="0"/>
              <a:t>The proposed system consists of the following modules:</a:t>
            </a:r>
          </a:p>
          <a:p>
            <a:r>
              <a:rPr lang="en-US" dirty="0"/>
              <a:t>1️⃣ </a:t>
            </a:r>
            <a:r>
              <a:rPr lang="en-US" b="1" dirty="0"/>
              <a:t>Image Capture Module</a:t>
            </a:r>
            <a:br>
              <a:rPr lang="en-US" dirty="0"/>
            </a:br>
            <a:r>
              <a:rPr lang="en-US" dirty="0"/>
              <a:t>Captures eye images using camera or upload feature.</a:t>
            </a:r>
          </a:p>
          <a:p>
            <a:r>
              <a:rPr lang="en-US" dirty="0"/>
              <a:t>2️⃣ </a:t>
            </a:r>
            <a:r>
              <a:rPr lang="en-US" b="1" dirty="0"/>
              <a:t>AI Detection Module</a:t>
            </a:r>
            <a:br>
              <a:rPr lang="en-US" dirty="0"/>
            </a:br>
            <a:r>
              <a:rPr lang="en-US" dirty="0"/>
              <a:t>Deep learning model analyzes the image and detects </a:t>
            </a:r>
            <a:r>
              <a:rPr lang="en-US" dirty="0" err="1"/>
              <a:t>hyphema</a:t>
            </a:r>
            <a:r>
              <a:rPr lang="en-US" dirty="0"/>
              <a:t>.</a:t>
            </a:r>
          </a:p>
          <a:p>
            <a:r>
              <a:rPr lang="en-US" dirty="0"/>
              <a:t>3️⃣ </a:t>
            </a:r>
            <a:r>
              <a:rPr lang="en-US" b="1" dirty="0"/>
              <a:t>Heatmap Visualization Module</a:t>
            </a:r>
            <a:br>
              <a:rPr lang="en-US" dirty="0"/>
            </a:br>
            <a:r>
              <a:rPr lang="en-US" dirty="0"/>
              <a:t>Grad-CAM highlights affected regions in the eye image.</a:t>
            </a:r>
          </a:p>
          <a:p>
            <a:r>
              <a:rPr lang="en-US" dirty="0"/>
              <a:t>4️⃣ </a:t>
            </a:r>
            <a:r>
              <a:rPr lang="en-US" b="1" dirty="0"/>
              <a:t>Recommendation Module</a:t>
            </a:r>
            <a:br>
              <a:rPr lang="en-US" dirty="0"/>
            </a:br>
            <a:r>
              <a:rPr lang="en-US" dirty="0"/>
              <a:t>Provides medical suggestions based on severity.</a:t>
            </a:r>
          </a:p>
          <a:p>
            <a:r>
              <a:rPr lang="en-US" dirty="0"/>
              <a:t>5️⃣ </a:t>
            </a:r>
            <a:r>
              <a:rPr lang="en-US" b="1" dirty="0"/>
              <a:t>Vision Screening Module</a:t>
            </a:r>
            <a:br>
              <a:rPr lang="en-US" dirty="0"/>
            </a:br>
            <a:r>
              <a:rPr lang="en-US" dirty="0"/>
              <a:t>Performs digital eye test for vision analysis.</a:t>
            </a:r>
          </a:p>
          <a:p>
            <a:r>
              <a:rPr lang="en-US" dirty="0"/>
              <a:t>6️⃣ </a:t>
            </a:r>
            <a:r>
              <a:rPr lang="en-US" b="1" dirty="0"/>
              <a:t>Hospital Finder Module</a:t>
            </a:r>
            <a:br>
              <a:rPr lang="en-US" dirty="0"/>
            </a:br>
            <a:r>
              <a:rPr lang="en-US" dirty="0"/>
              <a:t>Displays nearby eye hospitals and specialists.</a:t>
            </a:r>
          </a:p>
        </p:txBody>
      </p:sp>
    </p:spTree>
    <p:extLst>
      <p:ext uri="{BB962C8B-B14F-4D97-AF65-F5344CB8AC3E}">
        <p14:creationId xmlns:p14="http://schemas.microsoft.com/office/powerpoint/2010/main" val="179768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4F6D46-4E3F-E140-1651-9AEE130FC809}"/>
              </a:ext>
            </a:extLst>
          </p:cNvPr>
          <p:cNvSpPr txBox="1"/>
          <p:nvPr/>
        </p:nvSpPr>
        <p:spPr>
          <a:xfrm>
            <a:off x="2286000" y="892356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Algorithms &amp; Technologies</a:t>
            </a:r>
          </a:p>
          <a:p>
            <a:r>
              <a:rPr lang="en-US" b="1" dirty="0"/>
              <a:t>Algorithms Used</a:t>
            </a:r>
          </a:p>
          <a:p>
            <a:r>
              <a:rPr lang="en-US" dirty="0"/>
              <a:t>• Convolutional Neural Network (CNN)</a:t>
            </a:r>
            <a:br>
              <a:rPr lang="en-US" dirty="0"/>
            </a:br>
            <a:r>
              <a:rPr lang="en-US" dirty="0"/>
              <a:t>• Grad-CAM Visualization</a:t>
            </a:r>
          </a:p>
          <a:p>
            <a:r>
              <a:rPr lang="en-US" b="1" dirty="0"/>
              <a:t>Technologies Used</a:t>
            </a:r>
          </a:p>
          <a:p>
            <a:r>
              <a:rPr lang="en-US" dirty="0"/>
              <a:t>Programming Language : Python</a:t>
            </a:r>
          </a:p>
          <a:p>
            <a:r>
              <a:rPr lang="en-US" dirty="0"/>
              <a:t>Framework : Flask</a:t>
            </a:r>
          </a:p>
          <a:p>
            <a:r>
              <a:rPr lang="en-US" dirty="0"/>
              <a:t>Libraries :</a:t>
            </a:r>
          </a:p>
          <a:p>
            <a:r>
              <a:rPr lang="en-US" dirty="0"/>
              <a:t>• TensorFlow / </a:t>
            </a:r>
            <a:r>
              <a:rPr lang="en-US" dirty="0" err="1"/>
              <a:t>Keras</a:t>
            </a:r>
            <a:br>
              <a:rPr lang="en-US" dirty="0"/>
            </a:br>
            <a:r>
              <a:rPr lang="en-US" dirty="0"/>
              <a:t>• OpenCV</a:t>
            </a:r>
            <a:br>
              <a:rPr lang="en-US" dirty="0"/>
            </a:br>
            <a:r>
              <a:rPr lang="en-US" dirty="0"/>
              <a:t>• NumPy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SQLAlchemy</a:t>
            </a:r>
            <a:endParaRPr lang="en-US" dirty="0"/>
          </a:p>
          <a:p>
            <a:r>
              <a:rPr lang="en-US" dirty="0"/>
              <a:t>Frontend :</a:t>
            </a:r>
          </a:p>
          <a:p>
            <a:r>
              <a:rPr lang="en-US" dirty="0"/>
              <a:t>• HTML</a:t>
            </a:r>
            <a:br>
              <a:rPr lang="en-US" dirty="0"/>
            </a:br>
            <a:r>
              <a:rPr lang="en-US" dirty="0"/>
              <a:t>• CSS</a:t>
            </a:r>
            <a:br>
              <a:rPr lang="en-US" dirty="0"/>
            </a:br>
            <a:r>
              <a:rPr lang="en-US" dirty="0"/>
              <a:t>• JavaScript</a:t>
            </a:r>
          </a:p>
          <a:p>
            <a:r>
              <a:rPr lang="en-US" dirty="0"/>
              <a:t>Database :</a:t>
            </a:r>
          </a:p>
          <a:p>
            <a:r>
              <a:rPr lang="en-US" dirty="0"/>
              <a:t>• SQLite</a:t>
            </a:r>
          </a:p>
        </p:txBody>
      </p:sp>
    </p:spTree>
    <p:extLst>
      <p:ext uri="{BB962C8B-B14F-4D97-AF65-F5344CB8AC3E}">
        <p14:creationId xmlns:p14="http://schemas.microsoft.com/office/powerpoint/2010/main" val="369200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B2A1805-E5F8-5D18-8677-D5E7D4F17C7B}"/>
              </a:ext>
            </a:extLst>
          </p:cNvPr>
          <p:cNvSpPr txBox="1"/>
          <p:nvPr/>
        </p:nvSpPr>
        <p:spPr>
          <a:xfrm>
            <a:off x="1298749" y="1153497"/>
            <a:ext cx="65465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System </a:t>
            </a:r>
            <a:r>
              <a:rPr lang="en-US" dirty="0" err="1"/>
              <a:t>ArchitectureUser</a:t>
            </a:r>
            <a:r>
              <a:rPr lang="en-US" dirty="0"/>
              <a:t>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Capture Eye Image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Image Preprocessing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Deep Learning Model (CNN)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 err="1"/>
              <a:t>Hyphema</a:t>
            </a:r>
            <a:r>
              <a:rPr lang="en-US" dirty="0"/>
              <a:t> Detection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Severity Classification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Grad-CAM Heatmap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Recommendation System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Nearby Hospital Finder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9D188A8-C9B0-D768-B4D7-7ABE4FA5234C}"/>
              </a:ext>
            </a:extLst>
          </p:cNvPr>
          <p:cNvSpPr txBox="1"/>
          <p:nvPr/>
        </p:nvSpPr>
        <p:spPr>
          <a:xfrm>
            <a:off x="1964453" y="1225788"/>
            <a:ext cx="46523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Workflow of the </a:t>
            </a:r>
            <a:r>
              <a:rPr lang="en-US" dirty="0" err="1"/>
              <a:t>SystemUser</a:t>
            </a:r>
            <a:r>
              <a:rPr lang="en-US" dirty="0"/>
              <a:t> Uploads Eye Image       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Image Preprocessing   </a:t>
            </a:r>
          </a:p>
          <a:p>
            <a:pPr algn="ctr"/>
            <a:r>
              <a:rPr lang="en-US" dirty="0"/>
              <a:t>     ↓</a:t>
            </a:r>
          </a:p>
          <a:p>
            <a:pPr algn="ctr"/>
            <a:r>
              <a:rPr lang="en-US" dirty="0"/>
              <a:t>CNN Model Prediction     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 err="1"/>
              <a:t>Hyphema</a:t>
            </a:r>
            <a:r>
              <a:rPr lang="en-US" dirty="0"/>
              <a:t> Detection     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Severity Classification     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Generate Heatmap        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Display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E2D623-FBA6-AD6C-C652-3F7B009DD622}"/>
              </a:ext>
            </a:extLst>
          </p:cNvPr>
          <p:cNvSpPr txBox="1"/>
          <p:nvPr/>
        </p:nvSpPr>
        <p:spPr>
          <a:xfrm>
            <a:off x="2286000" y="1723352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 &amp; Analysis</a:t>
            </a:r>
          </a:p>
          <a:p>
            <a:r>
              <a:rPr lang="en-US" dirty="0"/>
              <a:t>The developed system successfully analyzes eye images and detects </a:t>
            </a:r>
            <a:r>
              <a:rPr lang="en-US" dirty="0" err="1"/>
              <a:t>hyphema</a:t>
            </a:r>
            <a:r>
              <a:rPr lang="en-US" dirty="0"/>
              <a:t> using AI techniques.</a:t>
            </a:r>
          </a:p>
          <a:p>
            <a:r>
              <a:rPr lang="en-US" dirty="0"/>
              <a:t>The system provides:</a:t>
            </a:r>
          </a:p>
          <a:p>
            <a:r>
              <a:rPr lang="en-US" dirty="0"/>
              <a:t>• </a:t>
            </a:r>
            <a:r>
              <a:rPr lang="en-US" dirty="0" err="1"/>
              <a:t>Hyphema</a:t>
            </a:r>
            <a:r>
              <a:rPr lang="en-US" dirty="0"/>
              <a:t> detection result</a:t>
            </a:r>
            <a:br>
              <a:rPr lang="en-US" dirty="0"/>
            </a:br>
            <a:r>
              <a:rPr lang="en-US" dirty="0"/>
              <a:t>• Severity classification (Grade 0–4)</a:t>
            </a:r>
            <a:br>
              <a:rPr lang="en-US" dirty="0"/>
            </a:br>
            <a:r>
              <a:rPr lang="en-US" dirty="0"/>
              <a:t>• Heatmap visualization</a:t>
            </a:r>
            <a:br>
              <a:rPr lang="en-US" dirty="0"/>
            </a:br>
            <a:r>
              <a:rPr lang="en-US" dirty="0"/>
              <a:t>• Medical recommendations</a:t>
            </a:r>
            <a:br>
              <a:rPr lang="en-US" dirty="0"/>
            </a:br>
            <a:r>
              <a:rPr lang="en-US" dirty="0"/>
              <a:t>• Nearby hospital suggestions</a:t>
            </a:r>
          </a:p>
          <a:p>
            <a:r>
              <a:rPr lang="en-US" dirty="0"/>
              <a:t>The system helps users </a:t>
            </a:r>
            <a:r>
              <a:rPr lang="en-US" b="1" dirty="0"/>
              <a:t>identify eye injuries early and take appropriate medical action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450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9B65C6-9881-88F4-D62E-B189525064B0}"/>
              </a:ext>
            </a:extLst>
          </p:cNvPr>
          <p:cNvSpPr txBox="1"/>
          <p:nvPr/>
        </p:nvSpPr>
        <p:spPr>
          <a:xfrm>
            <a:off x="2286000" y="2554349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• Early detection of </a:t>
            </a:r>
            <a:r>
              <a:rPr lang="en-US" dirty="0" err="1"/>
              <a:t>hyphema</a:t>
            </a:r>
            <a:br>
              <a:rPr lang="en-US" dirty="0"/>
            </a:br>
            <a:r>
              <a:rPr lang="en-US" dirty="0"/>
              <a:t>• AI-based automated diagnosis</a:t>
            </a:r>
            <a:br>
              <a:rPr lang="en-US" dirty="0"/>
            </a:br>
            <a:r>
              <a:rPr lang="en-US" dirty="0"/>
              <a:t>• Easy to use web application</a:t>
            </a:r>
            <a:br>
              <a:rPr lang="en-US" dirty="0"/>
            </a:br>
            <a:r>
              <a:rPr lang="en-US" dirty="0"/>
              <a:t>• Useful for remote medical screening</a:t>
            </a:r>
            <a:br>
              <a:rPr lang="en-US" dirty="0"/>
            </a:br>
            <a:r>
              <a:rPr lang="en-US" dirty="0"/>
              <a:t>• Supports medical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377268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4CD44D-7250-E72C-0647-DD00F6A0E5C8}"/>
              </a:ext>
            </a:extLst>
          </p:cNvPr>
          <p:cNvSpPr txBox="1"/>
          <p:nvPr/>
        </p:nvSpPr>
        <p:spPr>
          <a:xfrm>
            <a:off x="2286000" y="227735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Future Enhancements</a:t>
            </a:r>
          </a:p>
          <a:p>
            <a:r>
              <a:rPr lang="en-US" dirty="0"/>
              <a:t>Future improvements may include:</a:t>
            </a:r>
          </a:p>
          <a:p>
            <a:r>
              <a:rPr lang="en-US" dirty="0"/>
              <a:t>• Mobile application development</a:t>
            </a:r>
            <a:br>
              <a:rPr lang="en-US" dirty="0"/>
            </a:br>
            <a:r>
              <a:rPr lang="en-US" dirty="0"/>
              <a:t>• Real-time camera based detection</a:t>
            </a:r>
            <a:br>
              <a:rPr lang="en-US" dirty="0"/>
            </a:br>
            <a:r>
              <a:rPr lang="en-US" dirty="0"/>
              <a:t>• Detection of multiple eye diseases</a:t>
            </a:r>
            <a:br>
              <a:rPr lang="en-US" dirty="0"/>
            </a:br>
            <a:r>
              <a:rPr lang="en-US" dirty="0"/>
              <a:t>• Integration with hospital management systems</a:t>
            </a:r>
            <a:br>
              <a:rPr lang="en-US" dirty="0"/>
            </a:br>
            <a:r>
              <a:rPr lang="en-US" dirty="0"/>
              <a:t>• Multi-language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379416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EB953C-ED41-AFA8-B55B-E1DC245E65A0}"/>
              </a:ext>
            </a:extLst>
          </p:cNvPr>
          <p:cNvSpPr txBox="1"/>
          <p:nvPr/>
        </p:nvSpPr>
        <p:spPr>
          <a:xfrm>
            <a:off x="2286000" y="2000351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The proposed system provides an </a:t>
            </a:r>
            <a:r>
              <a:rPr lang="en-US" b="1" dirty="0"/>
              <a:t>AI-based approach for detecting </a:t>
            </a:r>
            <a:r>
              <a:rPr lang="en-US" b="1" dirty="0" err="1"/>
              <a:t>hyphema</a:t>
            </a:r>
            <a:r>
              <a:rPr lang="en-US" b="1" dirty="0"/>
              <a:t> from eye images</a:t>
            </a:r>
            <a:r>
              <a:rPr lang="en-US" dirty="0"/>
              <a:t>.</a:t>
            </a:r>
          </a:p>
          <a:p>
            <a:r>
              <a:rPr lang="en-US" dirty="0"/>
              <a:t>By using deep learning and image processing techniques, the system can assist in </a:t>
            </a:r>
            <a:r>
              <a:rPr lang="en-US" b="1" dirty="0"/>
              <a:t>early diagnosis and medical recommendation</a:t>
            </a:r>
            <a:r>
              <a:rPr lang="en-US" dirty="0"/>
              <a:t>.</a:t>
            </a:r>
          </a:p>
          <a:p>
            <a:r>
              <a:rPr lang="en-US" dirty="0"/>
              <a:t>This system can improve accessibility of eye health screening and help prevent severe vision problems.</a:t>
            </a:r>
          </a:p>
        </p:txBody>
      </p:sp>
    </p:spTree>
    <p:extLst>
      <p:ext uri="{BB962C8B-B14F-4D97-AF65-F5344CB8AC3E}">
        <p14:creationId xmlns:p14="http://schemas.microsoft.com/office/powerpoint/2010/main" val="2417551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F3DA27-FC04-F6BC-5C4B-E9F773B85EA3}"/>
              </a:ext>
            </a:extLst>
          </p:cNvPr>
          <p:cNvSpPr txBox="1"/>
          <p:nvPr/>
        </p:nvSpPr>
        <p:spPr>
          <a:xfrm>
            <a:off x="2286000" y="227735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Thank You</a:t>
            </a:r>
          </a:p>
          <a:p>
            <a:r>
              <a:rPr lang="en-US" b="1" dirty="0"/>
              <a:t>Thank You</a:t>
            </a:r>
            <a:endParaRPr lang="en-US" dirty="0"/>
          </a:p>
          <a:p>
            <a:r>
              <a:rPr lang="en-US" dirty="0"/>
              <a:t>Presented By</a:t>
            </a:r>
          </a:p>
          <a:p>
            <a:r>
              <a:rPr lang="en-US" b="1" dirty="0"/>
              <a:t>Chanda </a:t>
            </a:r>
            <a:r>
              <a:rPr lang="en-US" b="1" dirty="0" err="1"/>
              <a:t>Sunayana</a:t>
            </a:r>
            <a:r>
              <a:rPr lang="en-US" b="1" dirty="0"/>
              <a:t> (Y22CS2621)</a:t>
            </a:r>
            <a:endParaRPr lang="en-US" dirty="0"/>
          </a:p>
          <a:p>
            <a:r>
              <a:rPr lang="en-US" dirty="0"/>
              <a:t>Department of Computer Science &amp; Engineering</a:t>
            </a:r>
            <a:br>
              <a:rPr lang="en-US" dirty="0"/>
            </a:br>
            <a:r>
              <a:rPr lang="en-US" dirty="0" err="1"/>
              <a:t>Bapatla</a:t>
            </a:r>
            <a:r>
              <a:rPr lang="en-US" dirty="0"/>
              <a:t> Women’s Engineering College</a:t>
            </a:r>
            <a:br>
              <a:rPr lang="en-US" dirty="0"/>
            </a:br>
            <a:r>
              <a:rPr lang="en-US" dirty="0"/>
              <a:t>Acharya Nagarjuna University</a:t>
            </a:r>
          </a:p>
        </p:txBody>
      </p:sp>
    </p:spTree>
    <p:extLst>
      <p:ext uri="{BB962C8B-B14F-4D97-AF65-F5344CB8AC3E}">
        <p14:creationId xmlns:p14="http://schemas.microsoft.com/office/powerpoint/2010/main" val="389564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899</Words>
  <Application>Microsoft Office PowerPoint</Application>
  <PresentationFormat>On-screen Show (4:3)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 Satish</cp:lastModifiedBy>
  <cp:revision>2</cp:revision>
  <dcterms:created xsi:type="dcterms:W3CDTF">2013-01-27T09:14:16Z</dcterms:created>
  <dcterms:modified xsi:type="dcterms:W3CDTF">2026-03-04T18:01:14Z</dcterms:modified>
  <cp:category/>
</cp:coreProperties>
</file>